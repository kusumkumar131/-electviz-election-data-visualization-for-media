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74" r:id="rId3"/>
    <p:sldId id="257" r:id="rId4"/>
    <p:sldId id="271" r:id="rId5"/>
    <p:sldId id="260" r:id="rId6"/>
    <p:sldId id="259" r:id="rId7"/>
    <p:sldId id="258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2" r:id="rId19"/>
    <p:sldId id="273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7D7806-26F9-4691-8B8C-AC78DF33159F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BF34F-FBEA-48E7-B20B-5FF9C9E1D3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190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Combined multiple election datasets such as </a:t>
            </a:r>
            <a:r>
              <a:rPr lang="en-US" b="1" dirty="0"/>
              <a:t>candidate details, constituency information, party data, and vote results</a:t>
            </a:r>
            <a:r>
              <a:rPr lang="en-US" dirty="0"/>
              <a:t>.</a:t>
            </a:r>
          </a:p>
          <a:p>
            <a:r>
              <a:rPr lang="en-US" dirty="0"/>
              <a:t>Matched records using common fields like </a:t>
            </a:r>
            <a:r>
              <a:rPr lang="en-US" b="1" dirty="0"/>
              <a:t>State, Constituency Name, Candidate Name, and Party</a:t>
            </a:r>
            <a:r>
              <a:rPr lang="en-US" dirty="0"/>
              <a:t>.</a:t>
            </a:r>
          </a:p>
          <a:p>
            <a:r>
              <a:rPr lang="en-US" dirty="0"/>
              <a:t>Cleaned the dataset by:</a:t>
            </a:r>
          </a:p>
          <a:p>
            <a:pPr lvl="1"/>
            <a:r>
              <a:rPr lang="en-US" dirty="0"/>
              <a:t>Removing duplicate entries</a:t>
            </a:r>
          </a:p>
          <a:p>
            <a:pPr lvl="1"/>
            <a:r>
              <a:rPr lang="en-US" dirty="0"/>
              <a:t>Handling missing values</a:t>
            </a:r>
          </a:p>
          <a:p>
            <a:pPr lvl="1"/>
            <a:r>
              <a:rPr lang="en-US" dirty="0"/>
              <a:t>Standardizing party and state names</a:t>
            </a:r>
          </a:p>
          <a:p>
            <a:r>
              <a:rPr lang="en-US" dirty="0"/>
              <a:t>Converted columns into correct formats (numeric votes, percentages, text fields).</a:t>
            </a:r>
          </a:p>
          <a:p>
            <a:r>
              <a:rPr lang="en-US" dirty="0"/>
              <a:t>Created a </a:t>
            </a:r>
            <a:r>
              <a:rPr lang="en-US" b="1" dirty="0"/>
              <a:t>final integrated dataset</a:t>
            </a:r>
            <a:r>
              <a:rPr lang="en-US" dirty="0"/>
              <a:t> containing key attributes:</a:t>
            </a:r>
          </a:p>
          <a:p>
            <a:pPr lvl="1"/>
            <a:r>
              <a:rPr lang="en-US" dirty="0"/>
              <a:t>Candidate Name</a:t>
            </a:r>
          </a:p>
          <a:p>
            <a:pPr lvl="1"/>
            <a:r>
              <a:rPr lang="en-US" dirty="0"/>
              <a:t>Party</a:t>
            </a:r>
          </a:p>
          <a:p>
            <a:pPr lvl="1"/>
            <a:r>
              <a:rPr lang="en-US" dirty="0"/>
              <a:t>State</a:t>
            </a:r>
          </a:p>
          <a:p>
            <a:pPr lvl="1"/>
            <a:r>
              <a:rPr lang="en-US" dirty="0"/>
              <a:t>Constituency</a:t>
            </a:r>
          </a:p>
          <a:p>
            <a:pPr lvl="1"/>
            <a:r>
              <a:rPr lang="en-US" dirty="0"/>
              <a:t>Votes Received</a:t>
            </a:r>
          </a:p>
          <a:p>
            <a:pPr lvl="1"/>
            <a:r>
              <a:rPr lang="en-US" dirty="0"/>
              <a:t>Vote Share (%)</a:t>
            </a:r>
          </a:p>
          <a:p>
            <a:pPr lvl="1"/>
            <a:r>
              <a:rPr lang="en-US" dirty="0"/>
              <a:t>Vote Margin</a:t>
            </a:r>
          </a:p>
          <a:p>
            <a:pPr lvl="1"/>
            <a:r>
              <a:rPr lang="en-US" dirty="0"/>
              <a:t>Winner Status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BF34F-FBEA-48E7-B20B-5FF9C9E1D36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440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Organized the dataset into structured tables for easier analysis.</a:t>
            </a:r>
          </a:p>
          <a:p>
            <a:r>
              <a:rPr lang="en-US" dirty="0"/>
              <a:t>Identified main entities in the election data:</a:t>
            </a:r>
          </a:p>
          <a:p>
            <a:r>
              <a:rPr lang="en-US" b="1" dirty="0"/>
              <a:t>State</a:t>
            </a:r>
            <a:endParaRPr lang="en-US" dirty="0"/>
          </a:p>
          <a:p>
            <a:r>
              <a:rPr lang="en-US" b="1" dirty="0"/>
              <a:t>Constituency</a:t>
            </a:r>
            <a:endParaRPr lang="en-US" dirty="0"/>
          </a:p>
          <a:p>
            <a:r>
              <a:rPr lang="en-US" b="1" dirty="0"/>
              <a:t>Party</a:t>
            </a:r>
            <a:endParaRPr lang="en-US" dirty="0"/>
          </a:p>
          <a:p>
            <a:r>
              <a:rPr lang="en-US" b="1" dirty="0"/>
              <a:t>Candidate</a:t>
            </a:r>
            <a:endParaRPr lang="en-US" dirty="0"/>
          </a:p>
          <a:p>
            <a:r>
              <a:rPr lang="en-US" b="1" dirty="0"/>
              <a:t>Election Results</a:t>
            </a:r>
            <a:endParaRPr lang="en-US" dirty="0"/>
          </a:p>
          <a:p>
            <a:r>
              <a:rPr lang="en-US" dirty="0"/>
              <a:t>Established relationships between tables:</a:t>
            </a:r>
          </a:p>
          <a:p>
            <a:r>
              <a:rPr lang="en-US" dirty="0"/>
              <a:t>One </a:t>
            </a:r>
            <a:r>
              <a:rPr lang="en-US" b="1" dirty="0"/>
              <a:t>State → Many Constituencies</a:t>
            </a:r>
            <a:endParaRPr lang="en-US" dirty="0"/>
          </a:p>
          <a:p>
            <a:r>
              <a:rPr lang="en-US" dirty="0"/>
              <a:t>One </a:t>
            </a:r>
            <a:r>
              <a:rPr lang="en-US" b="1" dirty="0"/>
              <a:t>Party → Many Candidates</a:t>
            </a:r>
            <a:endParaRPr lang="en-US" dirty="0"/>
          </a:p>
          <a:p>
            <a:r>
              <a:rPr lang="en-US" dirty="0"/>
              <a:t>One </a:t>
            </a:r>
            <a:r>
              <a:rPr lang="en-US" b="1" dirty="0"/>
              <a:t>Constituency → Many Candidates</a:t>
            </a:r>
            <a:endParaRPr lang="en-US" dirty="0"/>
          </a:p>
          <a:p>
            <a:r>
              <a:rPr lang="en-US" b="1" dirty="0"/>
              <a:t>Election Results</a:t>
            </a:r>
            <a:r>
              <a:rPr lang="en-US" dirty="0"/>
              <a:t> connect candidates with vote counts</a:t>
            </a:r>
          </a:p>
          <a:p>
            <a:r>
              <a:rPr lang="en-US" dirty="0"/>
              <a:t>Created a relational structure to support </a:t>
            </a:r>
            <a:r>
              <a:rPr lang="en-US" b="1" dirty="0"/>
              <a:t>analysis and visualization in tools like Power BI/Tableau</a:t>
            </a:r>
            <a:r>
              <a:rPr lang="en-US" dirty="0"/>
              <a:t>.</a:t>
            </a:r>
          </a:p>
          <a:p>
            <a:r>
              <a:rPr lang="en-US" dirty="0"/>
              <a:t>This model enables insights such as:</a:t>
            </a:r>
          </a:p>
          <a:p>
            <a:r>
              <a:rPr lang="en-US" b="1" dirty="0"/>
              <a:t>Seats won by party</a:t>
            </a:r>
            <a:endParaRPr lang="en-US" dirty="0"/>
          </a:p>
          <a:p>
            <a:r>
              <a:rPr lang="en-US" b="1" dirty="0"/>
              <a:t>State-wise election results</a:t>
            </a:r>
            <a:endParaRPr lang="en-US" dirty="0"/>
          </a:p>
          <a:p>
            <a:r>
              <a:rPr lang="en-US" b="1" dirty="0"/>
              <a:t>Vote share comparison</a:t>
            </a:r>
            <a:endParaRPr lang="en-US" dirty="0"/>
          </a:p>
          <a:p>
            <a:r>
              <a:rPr lang="en-US" b="1" dirty="0"/>
              <a:t>Candidate performance analysis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BF34F-FBEA-48E7-B20B-5FF9C9E1D36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548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Historical Trends Dashboard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BF34F-FBEA-48E7-B20B-5FF9C9E1D36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076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5. Candidate &amp; Constituency Logistics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Winning Margins:</a:t>
            </a:r>
            <a:r>
              <a:rPr lang="en-US" dirty="0"/>
              <a:t> A list of the highest and lowest victory margins (e.g., the 10-lakh+ margin in Dhubri, Assam).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Demographics:</a:t>
            </a:r>
            <a:r>
              <a:rPr lang="en-US" dirty="0"/>
              <a:t> The number of winning women candidates (74 in 2024) compared to previous years.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NOTA Trends:</a:t>
            </a:r>
            <a:r>
              <a:rPr lang="en-US" dirty="0"/>
              <a:t> The percentage of voters choosing "None of the Above" across different cycles.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BF34F-FBEA-48E7-B20B-5FF9C9E1D36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455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Demographic Analysis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BF34F-FBEA-48E7-B20B-5FF9C9E1D36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979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NDA Dominance (Saffron):</a:t>
            </a:r>
            <a:r>
              <a:rPr lang="en-US" dirty="0"/>
              <a:t> The alliance maintained strong holds in states like </a:t>
            </a:r>
            <a:r>
              <a:rPr lang="en-US" b="1" dirty="0"/>
              <a:t>Madhya Pradesh</a:t>
            </a:r>
            <a:r>
              <a:rPr lang="en-US" dirty="0"/>
              <a:t> (clean sweep of 29/29), </a:t>
            </a:r>
            <a:r>
              <a:rPr lang="en-US" b="1" dirty="0"/>
              <a:t>Gujarat</a:t>
            </a:r>
            <a:r>
              <a:rPr lang="en-US" dirty="0"/>
              <a:t> (25/26), and </a:t>
            </a:r>
            <a:r>
              <a:rPr lang="en-US" b="1" dirty="0"/>
              <a:t>Odisha</a:t>
            </a:r>
            <a:r>
              <a:rPr lang="en-US" dirty="0"/>
              <a:t>.</a:t>
            </a:r>
          </a:p>
          <a:p>
            <a:r>
              <a:rPr lang="en-US" b="1" dirty="0"/>
              <a:t>I.N.D.I.A. Gains (Blue):</a:t>
            </a:r>
            <a:r>
              <a:rPr lang="en-US" dirty="0"/>
              <a:t> The opposition made massive gains in the "Hindi heartland," particularly in </a:t>
            </a:r>
            <a:r>
              <a:rPr lang="en-US" b="1" dirty="0"/>
              <a:t>Uttar Pradesh</a:t>
            </a:r>
            <a:r>
              <a:rPr lang="en-US" dirty="0"/>
              <a:t>, where the Samajwadi Party (SP) and Congress combined for 43 seats, leaving the BJP with only 33. They also dominated in </a:t>
            </a:r>
            <a:r>
              <a:rPr lang="en-US" b="1" dirty="0"/>
              <a:t>Tamil Nadu</a:t>
            </a:r>
            <a:r>
              <a:rPr lang="en-US" dirty="0"/>
              <a:t> and </a:t>
            </a:r>
            <a:r>
              <a:rPr lang="en-US" b="1" dirty="0"/>
              <a:t>Maharashtra</a:t>
            </a:r>
            <a:r>
              <a:rPr lang="en-US" dirty="0"/>
              <a:t>.</a:t>
            </a:r>
          </a:p>
          <a:p>
            <a:r>
              <a:rPr lang="en-US" b="1" dirty="0"/>
              <a:t>Key Allies:</a:t>
            </a:r>
            <a:r>
              <a:rPr lang="en-US" dirty="0"/>
              <a:t> Because the BJP fell short of the 272-seat majority mark, the support of regional allies like the </a:t>
            </a:r>
            <a:r>
              <a:rPr lang="en-US" b="1" dirty="0"/>
              <a:t>Telugu Desam Party (TDP)</a:t>
            </a:r>
            <a:r>
              <a:rPr lang="en-US" dirty="0"/>
              <a:t> in Andhra Pradesh and </a:t>
            </a:r>
            <a:r>
              <a:rPr lang="en-US" b="1" dirty="0"/>
              <a:t>Janata Dal (United)</a:t>
            </a:r>
            <a:r>
              <a:rPr lang="en-US" dirty="0"/>
              <a:t> in Bihar became crucial for forming the government.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BF34F-FBEA-48E7-B20B-5FF9C9E1D369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76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0F07-799D-40BC-8E1B-A3B04B8407B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14F3-DF4C-4737-86AE-23DDDA3490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125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0F07-799D-40BC-8E1B-A3B04B8407B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14F3-DF4C-4737-86AE-23DDDA3490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511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0F07-799D-40BC-8E1B-A3B04B8407B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14F3-DF4C-4737-86AE-23DDDA3490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261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0F07-799D-40BC-8E1B-A3B04B8407B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14F3-DF4C-4737-86AE-23DDDA3490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804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0F07-799D-40BC-8E1B-A3B04B8407B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14F3-DF4C-4737-86AE-23DDDA3490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286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0F07-799D-40BC-8E1B-A3B04B8407B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14F3-DF4C-4737-86AE-23DDDA3490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585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0F07-799D-40BC-8E1B-A3B04B8407B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14F3-DF4C-4737-86AE-23DDDA3490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897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0F07-799D-40BC-8E1B-A3B04B8407B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14F3-DF4C-4737-86AE-23DDDA3490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719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0F07-799D-40BC-8E1B-A3B04B8407B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14F3-DF4C-4737-86AE-23DDDA3490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222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0F07-799D-40BC-8E1B-A3B04B8407B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14F3-DF4C-4737-86AE-23DDDA3490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076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0F07-799D-40BC-8E1B-A3B04B8407B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14F3-DF4C-4737-86AE-23DDDA3490C6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07165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0F07-799D-40BC-8E1B-A3B04B8407B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14F3-DF4C-4737-86AE-23DDDA3490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918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0F07-799D-40BC-8E1B-A3B04B8407B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14F3-DF4C-4737-86AE-23DDDA3490C6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77061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0F07-799D-40BC-8E1B-A3B04B8407B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14F3-DF4C-4737-86AE-23DDDA3490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855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0F07-799D-40BC-8E1B-A3B04B8407B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14F3-DF4C-4737-86AE-23DDDA3490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352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0F07-799D-40BC-8E1B-A3B04B8407B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14F3-DF4C-4737-86AE-23DDDA3490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58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90F07-799D-40BC-8E1B-A3B04B8407B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08314F3-DF4C-4737-86AE-23DDDA3490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824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B29D5-EEF5-7088-7401-429AC17B9A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Project title:</a:t>
            </a:r>
            <a:r>
              <a:rPr lang="en-US" dirty="0"/>
              <a:t> Elect Viz Election Data Visualization for Media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429C5-969F-427E-DA15-4EFC616E5E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b="1" dirty="0"/>
          </a:p>
          <a:p>
            <a:r>
              <a:rPr lang="en-US" b="1" dirty="0"/>
              <a:t>Name :  </a:t>
            </a:r>
            <a:r>
              <a:rPr lang="en-US" dirty="0"/>
              <a:t>Kusum Kumar Reddy</a:t>
            </a:r>
          </a:p>
          <a:p>
            <a:r>
              <a:rPr lang="en-US" b="1" dirty="0"/>
              <a:t>Study :</a:t>
            </a:r>
            <a:r>
              <a:rPr lang="en-US" dirty="0" err="1"/>
              <a:t>B.Tech</a:t>
            </a:r>
            <a:r>
              <a:rPr lang="en-US" dirty="0"/>
              <a:t>(CSE-3</a:t>
            </a:r>
            <a:r>
              <a:rPr lang="en-US" baseline="30000" dirty="0"/>
              <a:t>rd</a:t>
            </a:r>
            <a:r>
              <a:rPr lang="en-US" dirty="0"/>
              <a:t> year)</a:t>
            </a:r>
          </a:p>
        </p:txBody>
      </p:sp>
    </p:spTree>
    <p:extLst>
      <p:ext uri="{BB962C8B-B14F-4D97-AF65-F5344CB8AC3E}">
        <p14:creationId xmlns:p14="http://schemas.microsoft.com/office/powerpoint/2010/main" val="797049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DB397B-4F8D-5475-3CBE-03DBD5E4D406}"/>
              </a:ext>
            </a:extLst>
          </p:cNvPr>
          <p:cNvSpPr txBox="1"/>
          <p:nvPr/>
        </p:nvSpPr>
        <p:spPr>
          <a:xfrm>
            <a:off x="875071" y="580103"/>
            <a:ext cx="827630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highlight>
                  <a:srgbClr val="FFFF00"/>
                </a:highlight>
              </a:rPr>
              <a:t>OBJECTIVE OF THE PROJECT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The key objectives of this project are:</a:t>
            </a:r>
            <a:br>
              <a:rPr lang="en-US" dirty="0"/>
            </a:br>
            <a:r>
              <a:rPr lang="en-US" dirty="0"/>
              <a:t>Perform data cleaning and integration.</a:t>
            </a:r>
            <a:br>
              <a:rPr lang="en-US" dirty="0"/>
            </a:br>
            <a:r>
              <a:rPr lang="en-US" dirty="0"/>
              <a:t>Build a structured data model for analysis.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Develop multiple dashboards: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• Election  analysis Dashboard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• Historical Trends Dashboard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• Real-Time Research Dashboard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• Turnout &amp; Demographic Analysis Dashboard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• Party &amp; Candidate Performance Tracker</a:t>
            </a:r>
          </a:p>
        </p:txBody>
      </p:sp>
    </p:spTree>
    <p:extLst>
      <p:ext uri="{BB962C8B-B14F-4D97-AF65-F5344CB8AC3E}">
        <p14:creationId xmlns:p14="http://schemas.microsoft.com/office/powerpoint/2010/main" val="1090548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FBF99B-34E9-78BB-A0DF-F72AF1624118}"/>
              </a:ext>
            </a:extLst>
          </p:cNvPr>
          <p:cNvSpPr txBox="1"/>
          <p:nvPr/>
        </p:nvSpPr>
        <p:spPr>
          <a:xfrm>
            <a:off x="471948" y="139799"/>
            <a:ext cx="75315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highlight>
                  <a:srgbClr val="FFFF00"/>
                </a:highlight>
              </a:rPr>
              <a:t>Data Integration and Data Modelling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3AFB44-7814-A00C-E45D-CB335091BFC1}"/>
              </a:ext>
            </a:extLst>
          </p:cNvPr>
          <p:cNvSpPr txBox="1"/>
          <p:nvPr/>
        </p:nvSpPr>
        <p:spPr>
          <a:xfrm>
            <a:off x="668594" y="751344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Combined multiple election datasets such as </a:t>
            </a:r>
            <a:r>
              <a:rPr lang="en-US" b="1" dirty="0"/>
              <a:t>candidate details, constituency information, party data, and vote results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Matched records using common fields like </a:t>
            </a:r>
            <a:r>
              <a:rPr lang="en-US" b="1" dirty="0"/>
              <a:t>State, Constituency Name, Candidate Name, and Party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Cleaned the dataset by: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Removing duplicate entries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Handling missing values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Standardizing party and state names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Converted columns into correct formats (numeric votes, percentages, text fields).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a </a:t>
            </a:r>
            <a:r>
              <a:rPr lang="en-US" b="1" dirty="0"/>
              <a:t>final integrated dataset</a:t>
            </a:r>
            <a:r>
              <a:rPr lang="en-US" dirty="0"/>
              <a:t> containing key attributes: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Candidate Name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Party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Constituency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Votes Received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Vote Share (%)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Vote Margin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Winner Status</a:t>
            </a:r>
          </a:p>
        </p:txBody>
      </p:sp>
    </p:spTree>
    <p:extLst>
      <p:ext uri="{BB962C8B-B14F-4D97-AF65-F5344CB8AC3E}">
        <p14:creationId xmlns:p14="http://schemas.microsoft.com/office/powerpoint/2010/main" val="512530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1E8AAB-AB66-B99F-FD9F-B83038908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24" y="147484"/>
            <a:ext cx="11712151" cy="654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803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9AE639-087E-5240-63A6-20D5D0BAC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94" y="186813"/>
            <a:ext cx="10896212" cy="647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453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2EC654-9C5A-27F4-FE06-69CE01EDB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07" y="56679"/>
            <a:ext cx="11536385" cy="674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994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9CAE03-830E-BC18-74A7-2148FF392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102" y="242102"/>
            <a:ext cx="8150943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Organized the dataset into structured tables for easier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main entities in the election data: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Constituency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Candidate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Election Results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Established relationships between tables: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 → Many Constituencies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Party → Many Candidates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Constituency → Many Candidates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Election Results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connect candidates with vote counts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a relational structure to support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 and visualization in tools like Power BI/Tableau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model enables insights such 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Seats won by party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State-wise election results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Vote share comparison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Candidate performance analysis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111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016031-F7A8-5206-FF8A-FD8CF98723C0}"/>
              </a:ext>
            </a:extLst>
          </p:cNvPr>
          <p:cNvSpPr txBox="1"/>
          <p:nvPr/>
        </p:nvSpPr>
        <p:spPr>
          <a:xfrm>
            <a:off x="442451" y="18896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highlight>
                  <a:srgbClr val="FFFF00"/>
                </a:highlight>
              </a:rPr>
              <a:t>Historical Trends Dashboard</a:t>
            </a:r>
            <a:endParaRPr lang="en-IN" sz="3200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B29353-91BD-E1BD-C974-7861CEC4E1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9755" y="934065"/>
            <a:ext cx="11212490" cy="561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927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F6CF69-F4E4-6C6D-423E-BCE37516BC00}"/>
              </a:ext>
            </a:extLst>
          </p:cNvPr>
          <p:cNvSpPr txBox="1"/>
          <p:nvPr/>
        </p:nvSpPr>
        <p:spPr>
          <a:xfrm>
            <a:off x="599768" y="127819"/>
            <a:ext cx="1099246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Comparative Seat Count (2024 vs. 2019)</a:t>
            </a:r>
          </a:p>
          <a:p>
            <a:pPr>
              <a:buNone/>
            </a:pPr>
            <a:r>
              <a:rPr lang="en-US" dirty="0"/>
              <a:t>This is the most prominent feature, showing the "Gain/Loss" for each party.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Performance Tracking:</a:t>
            </a:r>
            <a:r>
              <a:rPr lang="en-US" dirty="0"/>
              <a:t> A side-by-side bar or pie chart showing how many seats the </a:t>
            </a:r>
            <a:r>
              <a:rPr lang="en-US" b="1" dirty="0"/>
              <a:t>NDA</a:t>
            </a:r>
            <a:r>
              <a:rPr lang="en-US" dirty="0"/>
              <a:t>, </a:t>
            </a:r>
            <a:r>
              <a:rPr lang="en-US" b="1" dirty="0"/>
              <a:t>INDIA Alliance</a:t>
            </a:r>
            <a:r>
              <a:rPr lang="en-US" dirty="0"/>
              <a:t>, and </a:t>
            </a:r>
            <a:r>
              <a:rPr lang="en-US" b="1" dirty="0"/>
              <a:t>Others</a:t>
            </a:r>
            <a:r>
              <a:rPr lang="en-US" dirty="0"/>
              <a:t> won compared to their 2019 standing.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Majority Mark:</a:t>
            </a:r>
            <a:r>
              <a:rPr lang="en-US" dirty="0"/>
              <a:t> A visual indicator of the 272-seat threshold.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2. Vote Share Swing</a:t>
            </a:r>
          </a:p>
          <a:p>
            <a:pPr>
              <a:buNone/>
            </a:pPr>
            <a:r>
              <a:rPr lang="en-US" dirty="0"/>
              <a:t>The dashboard displays the percentage of the total popular vote each party received.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Swing Analysis:</a:t>
            </a:r>
            <a:r>
              <a:rPr lang="en-US" dirty="0"/>
              <a:t> It calculates the "Swing" (e.g., if a party got 37% in 2019 and 36% in 2024, it shows a -1% swing).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Vote-to-Seat Ratio:</a:t>
            </a:r>
            <a:r>
              <a:rPr lang="en-US" dirty="0"/>
              <a:t> A comparison showing how efficiently a party converted its total votes into actual seats.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3. Voter Turnout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Historical Comparison:</a:t>
            </a:r>
            <a:r>
              <a:rPr lang="en-US" dirty="0"/>
              <a:t> A line graph showing turnout percentages from 1951 to 2024.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Gender Breakdown:</a:t>
            </a:r>
            <a:r>
              <a:rPr lang="en-US" dirty="0"/>
              <a:t> Specific data on </a:t>
            </a:r>
            <a:r>
              <a:rPr lang="en-US" b="1" dirty="0"/>
              <a:t>female vs. male turnout</a:t>
            </a:r>
            <a:r>
              <a:rPr lang="en-US" dirty="0"/>
              <a:t>, highlighting the record 312 million women who voted in 2024.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Postal Ballots vs. EVMs:</a:t>
            </a:r>
            <a:r>
              <a:rPr lang="en-US" dirty="0"/>
              <a:t> A breakdown of how people voted.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4. Geographic Distribution (Heat Maps)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State-wise Performance:</a:t>
            </a:r>
            <a:r>
              <a:rPr lang="en-US" dirty="0"/>
              <a:t> Interactive maps where you can click on a state (like Uttar Pradesh or Maharashtra) to see the shift in dominance.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New Territory:</a:t>
            </a:r>
            <a:r>
              <a:rPr lang="en-US" dirty="0"/>
              <a:t> Highlighting "First-time" wins (e.g., BJP’s first seat in Kerala).</a:t>
            </a:r>
          </a:p>
        </p:txBody>
      </p:sp>
    </p:spTree>
    <p:extLst>
      <p:ext uri="{BB962C8B-B14F-4D97-AF65-F5344CB8AC3E}">
        <p14:creationId xmlns:p14="http://schemas.microsoft.com/office/powerpoint/2010/main" val="76585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685602-AE9F-FBA8-DBF3-11221FB4AC4C}"/>
              </a:ext>
            </a:extLst>
          </p:cNvPr>
          <p:cNvSpPr txBox="1"/>
          <p:nvPr/>
        </p:nvSpPr>
        <p:spPr>
          <a:xfrm>
            <a:off x="334297" y="0"/>
            <a:ext cx="104418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5. Candidate &amp; Constituency Logistics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Winning Margins:</a:t>
            </a:r>
            <a:r>
              <a:rPr lang="en-US" dirty="0"/>
              <a:t> A list of the highest and lowest victory margins (e.g., the 10-lakh+ margin in Dhubri, Assam).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Demographics:</a:t>
            </a:r>
            <a:r>
              <a:rPr lang="en-US" dirty="0"/>
              <a:t> The number of winning women candidates (74 in 2024) compared to previous years.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NOTA Trends:</a:t>
            </a:r>
            <a:r>
              <a:rPr lang="en-US" dirty="0"/>
              <a:t> The percentage of voters choosing "None of the Above" across different cycles.</a:t>
            </a:r>
          </a:p>
        </p:txBody>
      </p:sp>
    </p:spTree>
    <p:extLst>
      <p:ext uri="{BB962C8B-B14F-4D97-AF65-F5344CB8AC3E}">
        <p14:creationId xmlns:p14="http://schemas.microsoft.com/office/powerpoint/2010/main" val="1256508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6CB13-1A47-1B79-DC72-4153EEBF8DD0}"/>
              </a:ext>
            </a:extLst>
          </p:cNvPr>
          <p:cNvSpPr txBox="1"/>
          <p:nvPr/>
        </p:nvSpPr>
        <p:spPr>
          <a:xfrm>
            <a:off x="383458" y="17912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highlight>
                  <a:srgbClr val="FFFF00"/>
                </a:highlight>
              </a:rPr>
              <a:t>Realtime results Dashboard</a:t>
            </a:r>
            <a:endParaRPr lang="en-IN" sz="3200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573B5D-3588-632B-5694-037855EB4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86" y="904568"/>
            <a:ext cx="11298227" cy="563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818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AFE693-4C57-A14B-801E-EF2544879A85}"/>
              </a:ext>
            </a:extLst>
          </p:cNvPr>
          <p:cNvSpPr txBox="1"/>
          <p:nvPr/>
        </p:nvSpPr>
        <p:spPr>
          <a:xfrm>
            <a:off x="373626" y="199804"/>
            <a:ext cx="1165122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The dashboard uses several charts to analyze voter behavior and party performance: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Overall Election Summary by State:</a:t>
            </a:r>
            <a:r>
              <a:rPr lang="en-US" dirty="0"/>
              <a:t> A bar chart showing the sum of votes secured across major states. </a:t>
            </a:r>
            <a:r>
              <a:rPr lang="en-US" b="1" dirty="0"/>
              <a:t>Uttar Pradesh</a:t>
            </a:r>
            <a:r>
              <a:rPr lang="en-US" dirty="0"/>
              <a:t> leads significantly with </a:t>
            </a:r>
            <a:r>
              <a:rPr lang="en-US" b="1" dirty="0"/>
              <a:t>87M</a:t>
            </a:r>
            <a:r>
              <a:rPr lang="en-US" dirty="0"/>
              <a:t> votes, followed by West Bengal (</a:t>
            </a:r>
            <a:r>
              <a:rPr lang="en-US" b="1" dirty="0"/>
              <a:t>60M</a:t>
            </a:r>
            <a:r>
              <a:rPr lang="en-US" dirty="0"/>
              <a:t>) and Maharashtra (</a:t>
            </a:r>
            <a:r>
              <a:rPr lang="en-US" b="1" dirty="0"/>
              <a:t>57M</a:t>
            </a:r>
            <a:r>
              <a:rPr lang="en-US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Party Wise Performance:</a:t>
            </a:r>
            <a:r>
              <a:rPr lang="en-US" dirty="0"/>
              <a:t> A pie chart illustrating the distribution of votes among major parties. The </a:t>
            </a:r>
            <a:r>
              <a:rPr lang="en-US" b="1" dirty="0"/>
              <a:t>BJP</a:t>
            </a:r>
            <a:r>
              <a:rPr lang="en-US" dirty="0"/>
              <a:t> holds the largest share with </a:t>
            </a:r>
            <a:r>
              <a:rPr lang="en-US" b="1" dirty="0"/>
              <a:t>235M votes (52.62%)</a:t>
            </a:r>
            <a:r>
              <a:rPr lang="en-US" dirty="0"/>
              <a:t>, followed by the </a:t>
            </a:r>
            <a:r>
              <a:rPr lang="en-US" b="1" dirty="0"/>
              <a:t>INC</a:t>
            </a:r>
            <a:r>
              <a:rPr lang="en-US" dirty="0"/>
              <a:t> with </a:t>
            </a:r>
            <a:r>
              <a:rPr lang="en-US" b="1" dirty="0"/>
              <a:t>136M votes (30.48%)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Voter Turnover Trends:</a:t>
            </a:r>
            <a:r>
              <a:rPr lang="en-US" dirty="0"/>
              <a:t> A line graph tracking votes across specific Parliamentary Constituencies (PC). It shows a downward trend from </a:t>
            </a:r>
            <a:r>
              <a:rPr lang="en-US" b="1" dirty="0"/>
              <a:t>Dhubri</a:t>
            </a:r>
            <a:r>
              <a:rPr lang="en-US" dirty="0"/>
              <a:t> (the highest) toward </a:t>
            </a:r>
            <a:r>
              <a:rPr lang="en-US" b="1" dirty="0"/>
              <a:t>Bangalore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Candidate Performance Analysis:</a:t>
            </a:r>
            <a:r>
              <a:rPr lang="en-US" dirty="0"/>
              <a:t> A bar chart ranking individual candidates by votes secured. Notable names like </a:t>
            </a:r>
            <a:r>
              <a:rPr lang="en-US" b="1" dirty="0"/>
              <a:t>Rakibul Hussain</a:t>
            </a:r>
            <a:r>
              <a:rPr lang="en-US" dirty="0"/>
              <a:t>, </a:t>
            </a:r>
            <a:r>
              <a:rPr lang="en-US" b="1" dirty="0"/>
              <a:t>Rahul Gandhi</a:t>
            </a:r>
            <a:r>
              <a:rPr lang="en-US" dirty="0"/>
              <a:t>, and </a:t>
            </a:r>
            <a:r>
              <a:rPr lang="en-US" b="1" dirty="0"/>
              <a:t>Shivraj Singh Chouhan</a:t>
            </a:r>
            <a:r>
              <a:rPr lang="en-US" dirty="0"/>
              <a:t> are featured among the top performers.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Voter Dominance:</a:t>
            </a:r>
            <a:r>
              <a:rPr lang="en-US" dirty="0"/>
              <a:t> A horizontal bar chart identifying specific Assembly Constituencies (AC) with high vote totals, including </a:t>
            </a:r>
            <a:r>
              <a:rPr lang="en-US" b="1" dirty="0"/>
              <a:t>Patan</a:t>
            </a:r>
            <a:r>
              <a:rPr lang="en-US" dirty="0"/>
              <a:t>, </a:t>
            </a:r>
            <a:r>
              <a:rPr lang="en-US" b="1" dirty="0"/>
              <a:t>Ramgarh</a:t>
            </a:r>
            <a:r>
              <a:rPr lang="en-US" dirty="0"/>
              <a:t>, and </a:t>
            </a:r>
            <a:r>
              <a:rPr lang="en-US" b="1" dirty="0" err="1"/>
              <a:t>Raniganj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Geospatial Mapping:</a:t>
            </a:r>
            <a:r>
              <a:rPr lang="en-US" dirty="0"/>
              <a:t> One view includes a map of India with bubble indicators representing vote concentrations or constituency locations across the country.</a:t>
            </a:r>
          </a:p>
        </p:txBody>
      </p:sp>
    </p:spTree>
    <p:extLst>
      <p:ext uri="{BB962C8B-B14F-4D97-AF65-F5344CB8AC3E}">
        <p14:creationId xmlns:p14="http://schemas.microsoft.com/office/powerpoint/2010/main" val="4037361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78CC0E-3BB3-30A6-F720-E1D0799B6427}"/>
              </a:ext>
            </a:extLst>
          </p:cNvPr>
          <p:cNvSpPr txBox="1"/>
          <p:nvPr/>
        </p:nvSpPr>
        <p:spPr>
          <a:xfrm>
            <a:off x="491613" y="10046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highlight>
                  <a:srgbClr val="FFFF00"/>
                </a:highlight>
              </a:rPr>
              <a:t>Demographic Analysis</a:t>
            </a:r>
            <a:endParaRPr lang="en-IN" sz="3200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91D090-9A68-F567-CDEE-D796D9B07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48" y="685244"/>
            <a:ext cx="11729884" cy="607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687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AAF584-911A-8B07-E7A2-93F2CAAC2B97}"/>
              </a:ext>
            </a:extLst>
          </p:cNvPr>
          <p:cNvSpPr txBox="1"/>
          <p:nvPr/>
        </p:nvSpPr>
        <p:spPr>
          <a:xfrm>
            <a:off x="442452" y="171155"/>
            <a:ext cx="1038286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"Saffron" Areas (NDA):</a:t>
            </a:r>
            <a:r>
              <a:rPr lang="en-US" dirty="0"/>
              <a:t> These represent the areas where the BJP-led alliance maintained or gained control. They had a clean sweep in states like </a:t>
            </a:r>
            <a:r>
              <a:rPr lang="en-US" b="1" dirty="0"/>
              <a:t>Madhya Pradesh</a:t>
            </a:r>
            <a:r>
              <a:rPr lang="en-US" dirty="0"/>
              <a:t>, </a:t>
            </a:r>
            <a:r>
              <a:rPr lang="en-US" b="1" dirty="0"/>
              <a:t>Gujarat</a:t>
            </a:r>
            <a:r>
              <a:rPr lang="en-US" dirty="0"/>
              <a:t>, and </a:t>
            </a:r>
            <a:r>
              <a:rPr lang="en-US" b="1" dirty="0"/>
              <a:t>Delhi</a:t>
            </a:r>
            <a:r>
              <a:rPr lang="en-US" dirty="0"/>
              <a:t>, and made massive gains in </a:t>
            </a:r>
            <a:r>
              <a:rPr lang="en-US" b="1" dirty="0"/>
              <a:t>Odisha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"Blue" Areas (I.N.D.I.A.):</a:t>
            </a:r>
            <a:r>
              <a:rPr lang="en-US" dirty="0"/>
              <a:t> The opposition alliance performed much stronger than exit polls predicted. They won a significant number of seats in </a:t>
            </a:r>
            <a:r>
              <a:rPr lang="en-US" b="1" dirty="0"/>
              <a:t>Uttar Pradesh</a:t>
            </a:r>
            <a:r>
              <a:rPr lang="en-US" dirty="0"/>
              <a:t> (the most populous state), </a:t>
            </a:r>
            <a:r>
              <a:rPr lang="en-US" b="1" dirty="0"/>
              <a:t>Maharashtra</a:t>
            </a:r>
            <a:r>
              <a:rPr lang="en-US" dirty="0"/>
              <a:t>, and </a:t>
            </a:r>
            <a:r>
              <a:rPr lang="en-US" b="1" dirty="0"/>
              <a:t>West Bengal</a:t>
            </a:r>
            <a:r>
              <a:rPr lang="en-US" dirty="0"/>
              <a:t>, which prevented the BJP from reaching a solo majority.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Coalition Government:</a:t>
            </a:r>
            <a:r>
              <a:rPr lang="en-US" dirty="0"/>
              <a:t> Because the BJP won </a:t>
            </a:r>
            <a:r>
              <a:rPr lang="en-US" b="1" dirty="0"/>
              <a:t>240 seats</a:t>
            </a:r>
            <a:r>
              <a:rPr lang="en-US" dirty="0"/>
              <a:t> (short of the 272 needed for a majority), they formed the government with the help of allies like the TDP (Andhra Pradesh) and JD(U) (Bihar).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Interesting Context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The 2024 election was historic for several reasons: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Narendra Modi</a:t>
            </a:r>
            <a:r>
              <a:rPr lang="en-US" dirty="0"/>
              <a:t> became the first Prime Minister since Jawaharlal Nehru to win three consecutive terms.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marked the return of a strong </a:t>
            </a:r>
            <a:r>
              <a:rPr lang="en-US" b="1" dirty="0"/>
              <a:t>Opposition Leader</a:t>
            </a:r>
            <a:r>
              <a:rPr lang="en-US" dirty="0"/>
              <a:t> in Parliament (Rahul Gandhi) for the first time in a decade.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Digital infographics like the one in your image were widely used to show the "North-South" divide and the "Rural-Urban" voting patterns.</a:t>
            </a:r>
          </a:p>
        </p:txBody>
      </p:sp>
    </p:spTree>
    <p:extLst>
      <p:ext uri="{BB962C8B-B14F-4D97-AF65-F5344CB8AC3E}">
        <p14:creationId xmlns:p14="http://schemas.microsoft.com/office/powerpoint/2010/main" val="608494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CB6C72-30E3-2F65-54DB-1774DF6BA550}"/>
              </a:ext>
            </a:extLst>
          </p:cNvPr>
          <p:cNvSpPr txBox="1"/>
          <p:nvPr/>
        </p:nvSpPr>
        <p:spPr>
          <a:xfrm>
            <a:off x="196644" y="169296"/>
            <a:ext cx="82492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highlight>
                  <a:srgbClr val="FFFF00"/>
                </a:highlight>
              </a:rPr>
              <a:t>party and candidate performance trackers</a:t>
            </a:r>
            <a:endParaRPr lang="en-IN" sz="3200" dirty="0">
              <a:highlight>
                <a:srgbClr val="FFFF00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2638DA-470C-83B9-96AA-BCBCD5A00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05" y="754070"/>
            <a:ext cx="12047589" cy="610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222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A76F3E2-9B9D-2DD6-1F61-16C3AFDD4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433520"/>
              </p:ext>
            </p:extLst>
          </p:nvPr>
        </p:nvGraphicFramePr>
        <p:xfrm>
          <a:off x="838200" y="1199101"/>
          <a:ext cx="10515600" cy="39319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94836447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6223131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254993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23464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Seats Won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Lead Party (Seats Won)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 Outcomes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886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NDA</a:t>
                      </a:r>
                      <a:r>
                        <a:rPr lang="en-IN"/>
                        <a:t> (Orange/Saffron)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293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BJP (240)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Secured a majority but the BJP lost its solo majority for the first time in 10 years.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975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I.N.D.I.A.</a:t>
                      </a:r>
                      <a:r>
                        <a:rPr lang="en-US"/>
                        <a:t> (Blue/Green)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234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INC (99)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Performed significantly better than exit polls predicted, gaining over 100 seats compared to 2019.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902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Others</a:t>
                      </a:r>
                      <a:r>
                        <a:rPr lang="en-IN"/>
                        <a:t> (Grey)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16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Various (e.g., YSRCP, BJD)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Independent and non-aligned regional parties.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409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217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C107DFD-95FE-8C64-F9DD-EFBDCBAD1D26}"/>
              </a:ext>
            </a:extLst>
          </p:cNvPr>
          <p:cNvSpPr txBox="1"/>
          <p:nvPr/>
        </p:nvSpPr>
        <p:spPr>
          <a:xfrm>
            <a:off x="747252" y="1423752"/>
            <a:ext cx="1089414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NDA Dominance (Saffron):</a:t>
            </a:r>
            <a:r>
              <a:rPr lang="en-US" dirty="0"/>
              <a:t> The alliance maintained strong holds in states like </a:t>
            </a:r>
            <a:r>
              <a:rPr lang="en-US" b="1" dirty="0"/>
              <a:t>Madhya Pradesh</a:t>
            </a:r>
            <a:r>
              <a:rPr lang="en-US" dirty="0"/>
              <a:t> (clean sweep of 29/29), </a:t>
            </a:r>
            <a:r>
              <a:rPr lang="en-US" b="1" dirty="0"/>
              <a:t>Gujarat</a:t>
            </a:r>
            <a:r>
              <a:rPr lang="en-US" dirty="0"/>
              <a:t> (25/26), and </a:t>
            </a:r>
            <a:r>
              <a:rPr lang="en-US" b="1" dirty="0"/>
              <a:t>Odisha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I.N.D.I.A. Gains (Blue):</a:t>
            </a:r>
            <a:r>
              <a:rPr lang="en-US" dirty="0"/>
              <a:t> The opposition made massive gains in the "Hindi heartland," particularly in </a:t>
            </a:r>
            <a:r>
              <a:rPr lang="en-US" b="1" dirty="0"/>
              <a:t>Uttar Pradesh</a:t>
            </a:r>
            <a:r>
              <a:rPr lang="en-US" dirty="0"/>
              <a:t>, where the Samajwadi Party (SP) and Congress combined for 43 seats, leaving the BJP with only 33. They also dominated in </a:t>
            </a:r>
            <a:r>
              <a:rPr lang="en-US" b="1" dirty="0"/>
              <a:t>Tamil Nadu</a:t>
            </a:r>
            <a:r>
              <a:rPr lang="en-US" dirty="0"/>
              <a:t> and </a:t>
            </a:r>
            <a:r>
              <a:rPr lang="en-US" b="1" dirty="0"/>
              <a:t>Maharashtra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Key Allies:</a:t>
            </a:r>
            <a:r>
              <a:rPr lang="en-US" dirty="0"/>
              <a:t> Because the BJP fell short of the 272-seat majority mark, the support of regional allies like the </a:t>
            </a:r>
            <a:r>
              <a:rPr lang="en-US" b="1" dirty="0"/>
              <a:t>Telugu Desam Party (TDP)</a:t>
            </a:r>
            <a:r>
              <a:rPr lang="en-US" dirty="0"/>
              <a:t> in Andhra Pradesh and </a:t>
            </a:r>
            <a:r>
              <a:rPr lang="en-US" b="1" dirty="0"/>
              <a:t>Janata Dal (United)</a:t>
            </a:r>
            <a:r>
              <a:rPr lang="en-US" dirty="0"/>
              <a:t> in Bihar became crucial for forming the government.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3666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0E8F5F-E9C9-FF2C-8430-713BD84FD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42"/>
            <a:ext cx="12192000" cy="67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830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EEA6CB-DB11-D00C-3B68-DD50096BE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319"/>
            <a:ext cx="12192000" cy="680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9941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F0D905-ABD8-B34F-1258-29FD6D9D266D}"/>
              </a:ext>
            </a:extLst>
          </p:cNvPr>
          <p:cNvSpPr txBox="1"/>
          <p:nvPr/>
        </p:nvSpPr>
        <p:spPr>
          <a:xfrm>
            <a:off x="2105890" y="2828835"/>
            <a:ext cx="81767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rgbClr val="FF0000"/>
                </a:solidFill>
                <a:latin typeface="Bernard MT Condensed" panose="02050806060905020404" pitchFamily="18" charset="0"/>
              </a:rPr>
              <a:t>Thank You</a:t>
            </a:r>
            <a:endParaRPr lang="en-IN" sz="8000" b="1" dirty="0">
              <a:solidFill>
                <a:srgbClr val="FF0000"/>
              </a:solidFill>
              <a:latin typeface="Bernard MT Condensed" panose="02050806060905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15355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1150</TotalTime>
  <Words>1643</Words>
  <Application>Microsoft Office PowerPoint</Application>
  <PresentationFormat>Widescreen</PresentationFormat>
  <Paragraphs>179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Bernard MT Condensed</vt:lpstr>
      <vt:lpstr>Calibri</vt:lpstr>
      <vt:lpstr>Trebuchet MS</vt:lpstr>
      <vt:lpstr>Wingdings 3</vt:lpstr>
      <vt:lpstr>Facet</vt:lpstr>
      <vt:lpstr>Project title: Elect Viz Election Data Visualization for Media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Kusum Kumar</dc:creator>
  <cp:lastModifiedBy>Kusum Kumar</cp:lastModifiedBy>
  <cp:revision>5</cp:revision>
  <dcterms:created xsi:type="dcterms:W3CDTF">2026-03-05T12:18:11Z</dcterms:created>
  <dcterms:modified xsi:type="dcterms:W3CDTF">2026-03-17T04:36:21Z</dcterms:modified>
</cp:coreProperties>
</file>